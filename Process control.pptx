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chivo Black" charset="1" panose="020B0A03020202020B04"/>
      <p:regular r:id="rId18"/>
    </p:embeddedFont>
    <p:embeddedFont>
      <p:font typeface="Garet" charset="1" panose="00000000000000000000"/>
      <p:regular r:id="rId19"/>
    </p:embeddedFont>
    <p:embeddedFont>
      <p:font typeface="Garet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16422" y="120134"/>
            <a:ext cx="3071578" cy="2470617"/>
          </a:xfrm>
          <a:custGeom>
            <a:avLst/>
            <a:gdLst/>
            <a:ahLst/>
            <a:cxnLst/>
            <a:rect r="r" b="b" t="t" l="l"/>
            <a:pathLst>
              <a:path h="2470617" w="3071578">
                <a:moveTo>
                  <a:pt x="0" y="0"/>
                </a:moveTo>
                <a:lnTo>
                  <a:pt x="3071578" y="0"/>
                </a:lnTo>
                <a:lnTo>
                  <a:pt x="3071578" y="2470618"/>
                </a:lnTo>
                <a:lnTo>
                  <a:pt x="0" y="2470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3889" y="415409"/>
            <a:ext cx="14738355" cy="196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25"/>
              </a:lnSpc>
            </a:pPr>
            <a:r>
              <a:rPr lang="en-US" sz="7724" spc="-6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CH303 : PROCESS CONTROL </a:t>
            </a:r>
          </a:p>
          <a:p>
            <a:pPr algn="r" marL="0" indent="0" lvl="0">
              <a:lnSpc>
                <a:spcPts val="805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57059" y="2466927"/>
            <a:ext cx="13466143" cy="219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>
                <a:solidFill>
                  <a:srgbClr val="FF5757"/>
                </a:solidFill>
                <a:latin typeface="Garet"/>
                <a:ea typeface="Garet"/>
                <a:cs typeface="Garet"/>
                <a:sym typeface="Garet"/>
              </a:rPr>
              <a:t>PROJECT TOPIC- </a:t>
            </a:r>
            <a:r>
              <a:rPr lang="en-US" sz="6299">
                <a:solidFill>
                  <a:srgbClr val="FF5757"/>
                </a:solidFill>
                <a:latin typeface="Garet"/>
                <a:ea typeface="Garet"/>
                <a:cs typeface="Garet"/>
                <a:sym typeface="Garet"/>
              </a:rPr>
              <a:t>CSTR IN SERIES</a:t>
            </a:r>
          </a:p>
          <a:p>
            <a:pPr algn="ctr">
              <a:lnSpc>
                <a:spcPts val="88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56906" y="5699788"/>
            <a:ext cx="12266448" cy="233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Kartik</a:t>
            </a:r>
          </a:p>
          <a:p>
            <a:pPr algn="ctr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ENTRY NO-2023CHB1068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SUBMITTED TO - DR. JAYRAM VALLURU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5366" y="1827192"/>
            <a:ext cx="10823937" cy="5205705"/>
          </a:xfrm>
          <a:custGeom>
            <a:avLst/>
            <a:gdLst/>
            <a:ahLst/>
            <a:cxnLst/>
            <a:rect r="r" b="b" t="t" l="l"/>
            <a:pathLst>
              <a:path h="5205705" w="10823937">
                <a:moveTo>
                  <a:pt x="0" y="0"/>
                </a:moveTo>
                <a:lnTo>
                  <a:pt x="10823937" y="0"/>
                </a:lnTo>
                <a:lnTo>
                  <a:pt x="10823937" y="5205704"/>
                </a:lnTo>
                <a:lnTo>
                  <a:pt x="0" y="5205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503971" y="358774"/>
            <a:ext cx="6846959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PROCESS DIAGRAM: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3050" y="3015746"/>
            <a:ext cx="6637757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CA1 , CA2 : CONTROL VARIABLES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25407" y="3941728"/>
            <a:ext cx="5957253" cy="48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CA0 : MANIPULATED VARAIBLES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69310" y="4858669"/>
            <a:ext cx="5957253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F: DISTURBANCE VARAIBLE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977796" y="1872950"/>
            <a:ext cx="9166152" cy="2534727"/>
          </a:xfrm>
          <a:custGeom>
            <a:avLst/>
            <a:gdLst/>
            <a:ahLst/>
            <a:cxnLst/>
            <a:rect r="r" b="b" t="t" l="l"/>
            <a:pathLst>
              <a:path h="2534727" w="9166152">
                <a:moveTo>
                  <a:pt x="0" y="0"/>
                </a:moveTo>
                <a:lnTo>
                  <a:pt x="9166152" y="0"/>
                </a:lnTo>
                <a:lnTo>
                  <a:pt x="9166152" y="2534727"/>
                </a:lnTo>
                <a:lnTo>
                  <a:pt x="0" y="2534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533" r="-12856" b="-1955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21113"/>
            <a:ext cx="13996490" cy="86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65"/>
              </a:lnSpc>
              <a:spcBef>
                <a:spcPct val="0"/>
              </a:spcBef>
            </a:pPr>
            <a:r>
              <a:rPr lang="en-US" sz="6465" spc="-5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DYNAMIC MODEL EQUATION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38542" y="749473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8376" y="2025472"/>
            <a:ext cx="470376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COMPONENT MATERIAL BALANCE: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2128776" y="5469397"/>
            <a:ext cx="96542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CA1(initial guess) = 0.236 Mol/m3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128776" y="6068287"/>
            <a:ext cx="965421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CA2(Initial guess) = 0.05 Mol.m3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1446528" y="6757897"/>
            <a:ext cx="965421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CA0(Inlet Concentration) = 0.925 Mol/m3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2318355" y="4652829"/>
            <a:ext cx="10033375" cy="117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Given Process parameters :</a:t>
            </a:r>
          </a:p>
          <a:p>
            <a:pPr algn="ctr">
              <a:lnSpc>
                <a:spcPts val="2939"/>
              </a:lnSpc>
            </a:pP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102745" y="6757897"/>
            <a:ext cx="4557614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 = 0.040 min-1</a:t>
            </a:r>
          </a:p>
          <a:p>
            <a:pPr algn="ctr">
              <a:lnSpc>
                <a:spcPts val="2939"/>
              </a:lnSpc>
            </a:pPr>
          </a:p>
          <a:p>
            <a:pPr algn="ctr">
              <a:lnSpc>
                <a:spcPts val="2939"/>
              </a:lnSpc>
            </a:pP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86031" y="6131152"/>
            <a:ext cx="465978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 (Feed Flow rate) = 0.085 m3/min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49611" y="5469397"/>
            <a:ext cx="627715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V(volume of the reactor) = 2.1 m3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55026" y="1960842"/>
            <a:ext cx="6163036" cy="6365316"/>
            <a:chOff x="0" y="0"/>
            <a:chExt cx="8217381" cy="8487088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7784" t="0" r="17784" b="0"/>
            <a:stretch>
              <a:fillRect/>
            </a:stretch>
          </p:blipFill>
          <p:spPr>
            <a:xfrm flipH="false" flipV="false">
              <a:off x="0" y="0"/>
              <a:ext cx="8217381" cy="8487088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2128509" y="2307934"/>
            <a:ext cx="552849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buAutoNum type="arabicPeriod" startAt="1"/>
            </a:pPr>
            <a:r>
              <a:rPr lang="en-US" b="true" sz="3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Steady State and Dynamic Simulation of Non-Linear Model.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1625" y="4886964"/>
            <a:ext cx="4218077" cy="114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 . Feedback Controller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307933"/>
            <a:ext cx="4488613" cy="178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4759"/>
              </a:lnSpc>
              <a:buAutoNum type="arabicPeriod" startAt="1"/>
            </a:pPr>
            <a:r>
              <a:rPr lang="en-US" b="true" sz="3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Empirical Model Identification of FOPTD Models.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85600" y="194736"/>
            <a:ext cx="8909831" cy="83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208"/>
              </a:lnSpc>
              <a:spcBef>
                <a:spcPct val="0"/>
              </a:spcBef>
            </a:pPr>
            <a:r>
              <a:rPr lang="en-US" sz="6208" spc="-49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Process Objectives: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417" y="7145692"/>
            <a:ext cx="4323285" cy="11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4759"/>
              </a:lnSpc>
              <a:buAutoNum type="arabicPeriod" startAt="1"/>
            </a:pPr>
            <a:r>
              <a:rPr lang="en-US" b="true" sz="3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Closed loop   stability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46810" y="5816729"/>
            <a:ext cx="5275639" cy="227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96" indent="-348798" lvl="1">
              <a:lnSpc>
                <a:spcPts val="4523"/>
              </a:lnSpc>
              <a:buAutoNum type="arabicPeriod" startAt="1"/>
            </a:pPr>
            <a:r>
              <a:rPr lang="en-US" b="true" sz="32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Linearization and Simulation of Linear State Space Model and Stability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29131" y="5323580"/>
            <a:ext cx="11615952" cy="4475450"/>
          </a:xfrm>
          <a:custGeom>
            <a:avLst/>
            <a:gdLst/>
            <a:ahLst/>
            <a:cxnLst/>
            <a:rect r="r" b="b" t="t" l="l"/>
            <a:pathLst>
              <a:path h="4475450" w="11615952">
                <a:moveTo>
                  <a:pt x="0" y="0"/>
                </a:moveTo>
                <a:lnTo>
                  <a:pt x="11615952" y="0"/>
                </a:lnTo>
                <a:lnTo>
                  <a:pt x="11615952" y="4475450"/>
                </a:lnTo>
                <a:lnTo>
                  <a:pt x="0" y="447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9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92019" y="2137620"/>
            <a:ext cx="7404575" cy="2795227"/>
          </a:xfrm>
          <a:custGeom>
            <a:avLst/>
            <a:gdLst/>
            <a:ahLst/>
            <a:cxnLst/>
            <a:rect r="r" b="b" t="t" l="l"/>
            <a:pathLst>
              <a:path h="2795227" w="7404575">
                <a:moveTo>
                  <a:pt x="0" y="0"/>
                </a:moveTo>
                <a:lnTo>
                  <a:pt x="7404575" y="0"/>
                </a:lnTo>
                <a:lnTo>
                  <a:pt x="7404575" y="2795227"/>
                </a:lnTo>
                <a:lnTo>
                  <a:pt x="0" y="2795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1272" y="2239218"/>
            <a:ext cx="7796729" cy="2904282"/>
          </a:xfrm>
          <a:custGeom>
            <a:avLst/>
            <a:gdLst/>
            <a:ahLst/>
            <a:cxnLst/>
            <a:rect r="r" b="b" t="t" l="l"/>
            <a:pathLst>
              <a:path h="2904282" w="7796729">
                <a:moveTo>
                  <a:pt x="0" y="0"/>
                </a:moveTo>
                <a:lnTo>
                  <a:pt x="7796729" y="0"/>
                </a:lnTo>
                <a:lnTo>
                  <a:pt x="7796729" y="2904282"/>
                </a:lnTo>
                <a:lnTo>
                  <a:pt x="0" y="2904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329367" y="109347"/>
            <a:ext cx="37114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1192" y="389382"/>
            <a:ext cx="16801330" cy="150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OPEN LOOP SIMULATIONS:</a:t>
            </a:r>
          </a:p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SIMULATION RESULTS OF LINEAR AND NON LINEAR MODEL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982075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58763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18785320" cy="10284963"/>
          </a:xfrm>
          <a:custGeom>
            <a:avLst/>
            <a:gdLst/>
            <a:ahLst/>
            <a:cxnLst/>
            <a:rect r="r" b="b" t="t" l="l"/>
            <a:pathLst>
              <a:path h="10284963" w="18785320">
                <a:moveTo>
                  <a:pt x="0" y="0"/>
                </a:moveTo>
                <a:lnTo>
                  <a:pt x="18785320" y="0"/>
                </a:lnTo>
                <a:lnTo>
                  <a:pt x="18785320" y="10284963"/>
                </a:lnTo>
                <a:lnTo>
                  <a:pt x="0" y="102849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149139" y="373304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90100" y="1028700"/>
            <a:ext cx="9589960" cy="3421249"/>
          </a:xfrm>
          <a:custGeom>
            <a:avLst/>
            <a:gdLst/>
            <a:ahLst/>
            <a:cxnLst/>
            <a:rect r="r" b="b" t="t" l="l"/>
            <a:pathLst>
              <a:path h="3421249" w="9589960">
                <a:moveTo>
                  <a:pt x="0" y="0"/>
                </a:moveTo>
                <a:lnTo>
                  <a:pt x="9589960" y="0"/>
                </a:lnTo>
                <a:lnTo>
                  <a:pt x="9589960" y="3421249"/>
                </a:lnTo>
                <a:lnTo>
                  <a:pt x="0" y="342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4" r="0" b="-10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5039" y="5143500"/>
            <a:ext cx="9229799" cy="3375815"/>
          </a:xfrm>
          <a:custGeom>
            <a:avLst/>
            <a:gdLst/>
            <a:ahLst/>
            <a:cxnLst/>
            <a:rect r="r" b="b" t="t" l="l"/>
            <a:pathLst>
              <a:path h="3375815" w="9229799">
                <a:moveTo>
                  <a:pt x="0" y="0"/>
                </a:moveTo>
                <a:lnTo>
                  <a:pt x="9229800" y="0"/>
                </a:lnTo>
                <a:lnTo>
                  <a:pt x="9229800" y="3375815"/>
                </a:lnTo>
                <a:lnTo>
                  <a:pt x="0" y="337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24" r="-896" b="-172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36856" y="1587505"/>
            <a:ext cx="6349774" cy="1151819"/>
          </a:xfrm>
          <a:custGeom>
            <a:avLst/>
            <a:gdLst/>
            <a:ahLst/>
            <a:cxnLst/>
            <a:rect r="r" b="b" t="t" l="l"/>
            <a:pathLst>
              <a:path h="1151819" w="6349774">
                <a:moveTo>
                  <a:pt x="0" y="0"/>
                </a:moveTo>
                <a:lnTo>
                  <a:pt x="6349773" y="0"/>
                </a:lnTo>
                <a:lnTo>
                  <a:pt x="6349773" y="1151819"/>
                </a:lnTo>
                <a:lnTo>
                  <a:pt x="0" y="1151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39271" y="36831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338136" y="-104775"/>
            <a:ext cx="13449231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Empirical Model Identification of FOPTD Models: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0060" y="4926330"/>
            <a:ext cx="459926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FOPTD  PARAMETERS RESULT: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01613" y="5230141"/>
            <a:ext cx="396347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 p = 0.1069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501613" y="5785485"/>
            <a:ext cx="396347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TauP =  13.8375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606788" y="6443626"/>
            <a:ext cx="39634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Theta(delay) =  3.3592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78009" y="6883236"/>
            <a:ext cx="4123605" cy="84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1"/>
              </a:lnSpc>
              <a:spcBef>
                <a:spcPct val="0"/>
              </a:spcBef>
            </a:pPr>
            <a:r>
              <a:rPr lang="en-US" b="true" sz="24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True_parameters from transfer function model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19737" y="7419903"/>
            <a:ext cx="157305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Kp =  0.1057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80069" y="7916224"/>
            <a:ext cx="200656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TauP =  8.0346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02572" y="3055620"/>
            <a:ext cx="6856728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N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onlinear Regression using lsqcurvefit to calculate FOPTD parameters on some part of data and validation for test data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865305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080058" y="1341119"/>
            <a:ext cx="13179242" cy="4707288"/>
          </a:xfrm>
          <a:custGeom>
            <a:avLst/>
            <a:gdLst/>
            <a:ahLst/>
            <a:cxnLst/>
            <a:rect r="r" b="b" t="t" l="l"/>
            <a:pathLst>
              <a:path h="4707288" w="13179242">
                <a:moveTo>
                  <a:pt x="0" y="0"/>
                </a:moveTo>
                <a:lnTo>
                  <a:pt x="13179242" y="0"/>
                </a:lnTo>
                <a:lnTo>
                  <a:pt x="13179242" y="4707288"/>
                </a:lnTo>
                <a:lnTo>
                  <a:pt x="0" y="4707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4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42996"/>
            <a:ext cx="976953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Feedback Controller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3815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86168" y="1180035"/>
            <a:ext cx="43210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FOR P CONTROLLER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19120" y="6324632"/>
            <a:ext cx="4849761" cy="207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4303" indent="-257151" lvl="1">
              <a:lnSpc>
                <a:spcPts val="3334"/>
              </a:lnSpc>
              <a:buFont typeface="Arial"/>
              <a:buChar char="•"/>
            </a:pPr>
            <a:r>
              <a:rPr lang="en-US" b="true" sz="238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b="true" sz="238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omparison of Setpoint vs-controlled variable (CA2) of plant w.r.t number of samples (i.e., sampling instants) shown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7755" y="5117368"/>
            <a:ext cx="952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3409704" y="6540563"/>
            <a:ext cx="13179242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Controller Output :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P(t)</a:t>
            </a:r>
            <a:r>
              <a:rPr lang="en-US" b="true" sz="28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= P_ss + Kc * error(t)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11399" y="6315107"/>
            <a:ext cx="5374720" cy="188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 controller have offset in the output response  and also slow response , so generally not preferrable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865305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32280" y="6362732"/>
            <a:ext cx="6386839" cy="1384936"/>
          </a:xfrm>
          <a:custGeom>
            <a:avLst/>
            <a:gdLst/>
            <a:ahLst/>
            <a:cxnLst/>
            <a:rect r="r" b="b" t="t" l="l"/>
            <a:pathLst>
              <a:path h="1384936" w="6386839">
                <a:moveTo>
                  <a:pt x="0" y="0"/>
                </a:moveTo>
                <a:lnTo>
                  <a:pt x="6386840" y="0"/>
                </a:lnTo>
                <a:lnTo>
                  <a:pt x="6386840" y="1384936"/>
                </a:lnTo>
                <a:lnTo>
                  <a:pt x="0" y="138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58041" y="1084290"/>
            <a:ext cx="11301259" cy="4506377"/>
          </a:xfrm>
          <a:custGeom>
            <a:avLst/>
            <a:gdLst/>
            <a:ahLst/>
            <a:cxnLst/>
            <a:rect r="r" b="b" t="t" l="l"/>
            <a:pathLst>
              <a:path h="4506377" w="11301259">
                <a:moveTo>
                  <a:pt x="0" y="0"/>
                </a:moveTo>
                <a:lnTo>
                  <a:pt x="11301259" y="0"/>
                </a:lnTo>
                <a:lnTo>
                  <a:pt x="11301259" y="4506377"/>
                </a:lnTo>
                <a:lnTo>
                  <a:pt x="0" y="4506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83928"/>
            <a:ext cx="976953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Feedback Controller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38153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76208" y="1135015"/>
            <a:ext cx="43210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FOR PI CONTROLLER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44657" y="6009767"/>
            <a:ext cx="4849761" cy="21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5892" indent="-267946" lvl="1">
              <a:lnSpc>
                <a:spcPts val="3474"/>
              </a:lnSpc>
              <a:buFont typeface="Arial"/>
              <a:buChar char="•"/>
            </a:pPr>
            <a:r>
              <a:rPr lang="en-US" b="true" sz="248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b="true" sz="248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omparison of Setpoint vs-controlled variable (CA2) of plant w.r.t number of samples (i.e., sampling instants) shown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7755" y="5117368"/>
            <a:ext cx="952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411399" y="6009767"/>
            <a:ext cx="5374720" cy="236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PI controller does not have offset in the output response  and also fast  response as compared to P controller.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280" y="7700043"/>
            <a:ext cx="638683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Design Equation PI controller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13519" y="248358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10/10</a:t>
            </a:r>
          </a:p>
        </p:txBody>
      </p:sp>
      <p:sp>
        <p:nvSpPr>
          <p:cNvPr name="AutoShape 4" id="4"/>
          <p:cNvSpPr/>
          <p:nvPr/>
        </p:nvSpPr>
        <p:spPr>
          <a:xfrm>
            <a:off x="-585133" y="917479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0" y="131199"/>
            <a:ext cx="9144000" cy="87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CLOSED LOOP STABILITY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8941" y="1391786"/>
            <a:ext cx="5022329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Routh–Hurwitz  Condition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8941" y="2136140"/>
            <a:ext cx="11787820" cy="18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Ens</a:t>
            </a: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ures stability by checking signs of first-column.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Gives stable range of Kc​.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All poles remain in left-alf plane</a:t>
            </a:r>
          </a:p>
          <a:p>
            <a:pPr algn="ctr">
              <a:lnSpc>
                <a:spcPts val="363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1440515" y="3898900"/>
            <a:ext cx="20584024" cy="18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From Closed loop stability analysis , we get the condition of Kc for Proportional Controller  such  that </a:t>
            </a: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 + Kp *Kc &gt; 0 or Kc &gt; -9.35480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8941" y="6694597"/>
            <a:ext cx="768738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Kc  should be positive for physical systems.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6514" y="4433574"/>
            <a:ext cx="12301531" cy="3421905"/>
          </a:xfrm>
          <a:custGeom>
            <a:avLst/>
            <a:gdLst/>
            <a:ahLst/>
            <a:cxnLst/>
            <a:rect r="r" b="b" t="t" l="l"/>
            <a:pathLst>
              <a:path h="3421905" w="12301531">
                <a:moveTo>
                  <a:pt x="0" y="0"/>
                </a:moveTo>
                <a:lnTo>
                  <a:pt x="12301531" y="0"/>
                </a:lnTo>
                <a:lnTo>
                  <a:pt x="12301531" y="3421905"/>
                </a:lnTo>
                <a:lnTo>
                  <a:pt x="0" y="3421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50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157259" y="112540"/>
            <a:ext cx="11301259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ROOT LOCUS DOAGRAM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6514" y="807945"/>
            <a:ext cx="16159429" cy="3731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Root L</a:t>
            </a:r>
            <a:r>
              <a:rPr lang="en-US" sz="3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ocus shows how the closed-loop poles of a system move in the s-plane as the controller gain Kc​ varies from 0 to ∞.</a:t>
            </a:r>
          </a:p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pole locations determine stability, speed of response, damping, and oscillatory behavior.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If poles stay in the left half-plane, the system is stable.</a:t>
            </a:r>
          </a:p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When poles cross into the right half-plane, the system becomes unstable.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035452" y="6486075"/>
            <a:ext cx="542631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System has </a:t>
            </a:r>
            <a:r>
              <a:rPr lang="en-US" b="true" sz="21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one real pole at </a:t>
            </a:r>
          </a:p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 =- 1/TauP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93022" y="7620821"/>
            <a:ext cx="5492276" cy="78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9384" indent="-244692" lvl="1">
              <a:lnSpc>
                <a:spcPts val="3173"/>
              </a:lnSpc>
              <a:buFont typeface="Arial"/>
              <a:buChar char="•"/>
            </a:pPr>
            <a:r>
              <a:rPr lang="en-US" b="true" sz="226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b="true" sz="226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ole remains in left-half plane → system always stable.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51477" y="4122721"/>
            <a:ext cx="4185047" cy="87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DAG5-xtaFTY</dc:identifier>
  <dcterms:modified xsi:type="dcterms:W3CDTF">2011-08-01T06:04:30Z</dcterms:modified>
  <cp:revision>1</cp:revision>
  <dc:title>Process control</dc:title>
</cp:coreProperties>
</file>